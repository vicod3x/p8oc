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9"/>
  </p:notesMasterIdLst>
  <p:sldIdLst>
    <p:sldId id="256" r:id="rId2"/>
    <p:sldId id="257" r:id="rId3"/>
    <p:sldId id="259" r:id="rId4"/>
    <p:sldId id="341" r:id="rId5"/>
    <p:sldId id="342" r:id="rId6"/>
    <p:sldId id="344" r:id="rId7"/>
    <p:sldId id="360" r:id="rId8"/>
    <p:sldId id="361" r:id="rId9"/>
    <p:sldId id="364" r:id="rId10"/>
    <p:sldId id="374" r:id="rId11"/>
    <p:sldId id="362" r:id="rId12"/>
    <p:sldId id="375" r:id="rId13"/>
    <p:sldId id="365" r:id="rId14"/>
    <p:sldId id="363" r:id="rId15"/>
    <p:sldId id="376" r:id="rId16"/>
    <p:sldId id="377" r:id="rId17"/>
    <p:sldId id="290"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D6A6A-BAB6-484B-9304-24E0759B6528}" type="datetimeFigureOut">
              <a:rPr lang="fr-FR" smtClean="0"/>
              <a:t>11/11/2025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48BEC-C11A-421A-826C-B61DC27950CC}" type="slidenum">
              <a:rPr lang="fr-FR" smtClean="0"/>
              <a:t>‹N°›</a:t>
            </a:fld>
            <a:endParaRPr lang="fr-FR"/>
          </a:p>
        </p:txBody>
      </p:sp>
    </p:spTree>
    <p:extLst>
      <p:ext uri="{BB962C8B-B14F-4D97-AF65-F5344CB8AC3E}">
        <p14:creationId xmlns:p14="http://schemas.microsoft.com/office/powerpoint/2010/main" val="1926383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02186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93467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125165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413947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428641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508425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360323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‹N°›</a:t>
            </a:fld>
            <a:endParaRPr lang="en-US" dirty="0"/>
          </a:p>
        </p:txBody>
      </p:sp>
    </p:spTree>
    <p:extLst>
      <p:ext uri="{BB962C8B-B14F-4D97-AF65-F5344CB8AC3E}">
        <p14:creationId xmlns:p14="http://schemas.microsoft.com/office/powerpoint/2010/main" val="428484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238519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6673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‹N°›</a:t>
            </a:fld>
            <a:endParaRPr lang="en-US" dirty="0"/>
          </a:p>
        </p:txBody>
      </p:sp>
    </p:spTree>
    <p:extLst>
      <p:ext uri="{BB962C8B-B14F-4D97-AF65-F5344CB8AC3E}">
        <p14:creationId xmlns:p14="http://schemas.microsoft.com/office/powerpoint/2010/main" val="123827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11/11/2025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‹N°›</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32531139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hf sldNum="0" hdr="0" ftr="0" dt="0"/>
  <p:txStyles>
    <p:title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9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A71294-C247-450A-BB34-6E68648C9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panose="020B0502020104020203"/>
              <a:ea typeface="+mn-ea"/>
              <a:cs typeface="+mn-cs"/>
            </a:endParaRPr>
          </a:p>
        </p:txBody>
      </p:sp>
      <p:sp useBgFill="1">
        <p:nvSpPr>
          <p:cNvPr id="15" name="Rectangle 14">
            <a:extLst>
              <a:ext uri="{FF2B5EF4-FFF2-40B4-BE49-F238E27FC236}">
                <a16:creationId xmlns:a16="http://schemas.microsoft.com/office/drawing/2014/main" id="{D36A0BA4-6A63-41D3-B0FA-43799ABC4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re 1">
            <a:extLst>
              <a:ext uri="{FF2B5EF4-FFF2-40B4-BE49-F238E27FC236}">
                <a16:creationId xmlns:a16="http://schemas.microsoft.com/office/drawing/2014/main" id="{3F3F5074-547C-222B-2E38-188661949A00}"/>
              </a:ext>
            </a:extLst>
          </p:cNvPr>
          <p:cNvSpPr>
            <a:spLocks noGrp="1"/>
          </p:cNvSpPr>
          <p:nvPr>
            <p:ph type="ctrTitle"/>
          </p:nvPr>
        </p:nvSpPr>
        <p:spPr>
          <a:xfrm>
            <a:off x="581192" y="1009398"/>
            <a:ext cx="6823988" cy="3453419"/>
          </a:xfrm>
        </p:spPr>
        <p:txBody>
          <a:bodyPr anchor="b">
            <a:normAutofit/>
          </a:bodyPr>
          <a:lstStyle/>
          <a:p>
            <a:r>
              <a:rPr lang="fr-FR" sz="6000" dirty="0">
                <a:solidFill>
                  <a:schemeClr val="tx1"/>
                </a:solidFill>
              </a:rPr>
              <a:t>Projet 7</a:t>
            </a:r>
          </a:p>
        </p:txBody>
      </p:sp>
      <p:sp>
        <p:nvSpPr>
          <p:cNvPr id="3" name="Sous-titre 2">
            <a:extLst>
              <a:ext uri="{FF2B5EF4-FFF2-40B4-BE49-F238E27FC236}">
                <a16:creationId xmlns:a16="http://schemas.microsoft.com/office/drawing/2014/main" id="{65D0C596-D280-F733-67E6-3523A62CEA20}"/>
              </a:ext>
            </a:extLst>
          </p:cNvPr>
          <p:cNvSpPr>
            <a:spLocks noGrp="1"/>
          </p:cNvSpPr>
          <p:nvPr>
            <p:ph type="subTitle" idx="1"/>
          </p:nvPr>
        </p:nvSpPr>
        <p:spPr>
          <a:xfrm>
            <a:off x="581191" y="4572000"/>
            <a:ext cx="6823988" cy="1023580"/>
          </a:xfrm>
        </p:spPr>
        <p:txBody>
          <a:bodyPr anchor="t">
            <a:noAutofit/>
          </a:bodyPr>
          <a:lstStyle/>
          <a:p>
            <a:r>
              <a:rPr lang="fr-FR" sz="2000" b="1" u="sng" dirty="0"/>
              <a:t>Réalisez une analyse de sentiments grâce au Deep Learning</a:t>
            </a:r>
          </a:p>
          <a:p>
            <a:br>
              <a:rPr lang="fr-FR" sz="2000" u="sng" dirty="0"/>
            </a:br>
            <a:br>
              <a:rPr lang="fr-FR" sz="2000" u="sng" dirty="0"/>
            </a:br>
            <a:endParaRPr lang="fr-FR" sz="2000" b="1" u="sng" dirty="0">
              <a:solidFill>
                <a:schemeClr val="accent3">
                  <a:alpha val="60000"/>
                </a:schemeClr>
              </a:solidFill>
            </a:endParaRPr>
          </a:p>
        </p:txBody>
      </p:sp>
      <p:sp>
        <p:nvSpPr>
          <p:cNvPr id="13" name="Rectangle 12">
            <a:extLst>
              <a:ext uri="{FF2B5EF4-FFF2-40B4-BE49-F238E27FC236}">
                <a16:creationId xmlns:a16="http://schemas.microsoft.com/office/drawing/2014/main" id="{673313D8-D259-4D89-9CE5-14884FB40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19" y="457200"/>
            <a:ext cx="6766560" cy="91439"/>
          </a:xfrm>
          <a:prstGeom prst="rect">
            <a:avLst/>
          </a:prstGeom>
          <a:solidFill>
            <a:schemeClr val="tx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pic>
        <p:nvPicPr>
          <p:cNvPr id="16" name="Picture 3" descr="Une image contenant rideau, capture d’écran, art, léger&#10;&#10;Description générée automatiquement">
            <a:extLst>
              <a:ext uri="{FF2B5EF4-FFF2-40B4-BE49-F238E27FC236}">
                <a16:creationId xmlns:a16="http://schemas.microsoft.com/office/drawing/2014/main" id="{8F18CC34-00BA-E610-7984-B7617A9CA2F4}"/>
              </a:ext>
            </a:extLst>
          </p:cNvPr>
          <p:cNvPicPr>
            <a:picLocks noChangeAspect="1"/>
          </p:cNvPicPr>
          <p:nvPr/>
        </p:nvPicPr>
        <p:blipFill>
          <a:blip r:embed="rId2"/>
          <a:srcRect l="34579" r="23919" b="1"/>
          <a:stretch/>
        </p:blipFill>
        <p:spPr>
          <a:xfrm>
            <a:off x="8140428" y="10"/>
            <a:ext cx="4051572" cy="6857990"/>
          </a:xfrm>
          <a:prstGeom prst="rect">
            <a:avLst/>
          </a:prstGeom>
        </p:spPr>
      </p:pic>
      <p:sp>
        <p:nvSpPr>
          <p:cNvPr id="4" name="Sous-titre 2">
            <a:extLst>
              <a:ext uri="{FF2B5EF4-FFF2-40B4-BE49-F238E27FC236}">
                <a16:creationId xmlns:a16="http://schemas.microsoft.com/office/drawing/2014/main" id="{CB7D965F-13ED-F28F-C5CD-CB1A3109E7F5}"/>
              </a:ext>
            </a:extLst>
          </p:cNvPr>
          <p:cNvSpPr txBox="1">
            <a:spLocks/>
          </p:cNvSpPr>
          <p:nvPr/>
        </p:nvSpPr>
        <p:spPr>
          <a:xfrm>
            <a:off x="581191" y="657822"/>
            <a:ext cx="6823988" cy="1023580"/>
          </a:xfrm>
          <a:prstGeom prst="rect">
            <a:avLst/>
          </a:prstGeom>
        </p:spPr>
        <p:txBody>
          <a:bodyPr vert="horz" lIns="91440" tIns="45720" rIns="91440" bIns="45720" rtlCol="0" anchor="t">
            <a:noAutofit/>
          </a:bodyPr>
          <a:lstStyle>
            <a:lvl1pPr marL="0" indent="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600" kern="1200" cap="all">
                <a:solidFill>
                  <a:schemeClr val="accent1"/>
                </a:solidFill>
                <a:latin typeface="+mn-lt"/>
                <a:ea typeface="+mn-ea"/>
                <a:cs typeface="+mn-cs"/>
              </a:defRPr>
            </a:lvl1pPr>
            <a:lvl2pPr marL="4572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700" kern="1200">
                <a:solidFill>
                  <a:schemeClr val="tx1">
                    <a:tint val="75000"/>
                  </a:schemeClr>
                </a:solidFill>
                <a:latin typeface="+mn-lt"/>
                <a:ea typeface="+mn-ea"/>
                <a:cs typeface="+mn-cs"/>
              </a:defRPr>
            </a:lvl2pPr>
            <a:lvl3pPr marL="9144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500" kern="1200">
                <a:solidFill>
                  <a:schemeClr val="tx1">
                    <a:tint val="75000"/>
                  </a:schemeClr>
                </a:solidFill>
                <a:latin typeface="+mn-lt"/>
                <a:ea typeface="+mn-ea"/>
                <a:cs typeface="+mn-cs"/>
              </a:defRPr>
            </a:lvl3pPr>
            <a:lvl4pPr marL="13716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4pPr>
            <a:lvl5pPr marL="1828800" indent="0" algn="ctr"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None/>
              <a:defRPr sz="13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nSpc>
                <a:spcPct val="100000"/>
              </a:lnSpc>
            </a:pPr>
            <a:r>
              <a:rPr lang="fr-FR" sz="1100" b="1" dirty="0">
                <a:solidFill>
                  <a:schemeClr val="accent3">
                    <a:alpha val="60000"/>
                  </a:schemeClr>
                </a:solidFill>
                <a:latin typeface="Inter"/>
              </a:rPr>
              <a:t>Victor. A</a:t>
            </a:r>
          </a:p>
          <a:p>
            <a:pPr>
              <a:lnSpc>
                <a:spcPct val="100000"/>
              </a:lnSpc>
            </a:pPr>
            <a:r>
              <a:rPr lang="fr-FR" sz="1100" b="1" dirty="0">
                <a:solidFill>
                  <a:schemeClr val="accent3">
                    <a:alpha val="60000"/>
                  </a:schemeClr>
                </a:solidFill>
                <a:latin typeface="Inter"/>
              </a:rPr>
              <a:t>open Classroom</a:t>
            </a:r>
          </a:p>
          <a:p>
            <a:pPr>
              <a:lnSpc>
                <a:spcPct val="100000"/>
              </a:lnSpc>
            </a:pPr>
            <a:br>
              <a:rPr lang="fr-FR" sz="1100" b="1" dirty="0">
                <a:solidFill>
                  <a:schemeClr val="accent3">
                    <a:alpha val="60000"/>
                  </a:schemeClr>
                </a:solidFill>
                <a:latin typeface="Inter"/>
              </a:rPr>
            </a:br>
            <a:endParaRPr lang="fr-FR" sz="1100" b="1" dirty="0">
              <a:solidFill>
                <a:schemeClr val="accent3">
                  <a:alpha val="60000"/>
                </a:schemeClr>
              </a:solidFill>
            </a:endParaRPr>
          </a:p>
        </p:txBody>
      </p:sp>
    </p:spTree>
    <p:extLst>
      <p:ext uri="{BB962C8B-B14F-4D97-AF65-F5344CB8AC3E}">
        <p14:creationId xmlns:p14="http://schemas.microsoft.com/office/powerpoint/2010/main" val="24976933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6B47BF-F3D0-4678-9B20-DA45E1BCA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CDEF993-F039-C76A-44A1-CA074E9C6D26}"/>
              </a:ext>
            </a:extLst>
          </p:cNvPr>
          <p:cNvSpPr>
            <a:spLocks noGrp="1"/>
          </p:cNvSpPr>
          <p:nvPr>
            <p:ph type="title"/>
          </p:nvPr>
        </p:nvSpPr>
        <p:spPr>
          <a:xfrm>
            <a:off x="109364" y="1239299"/>
            <a:ext cx="4898858" cy="4608003"/>
          </a:xfrm>
        </p:spPr>
        <p:txBody>
          <a:bodyPr anchor="ctr">
            <a:normAutofit/>
          </a:bodyPr>
          <a:lstStyle/>
          <a:p>
            <a:r>
              <a:rPr lang="fr-FR" sz="4000" dirty="0">
                <a:solidFill>
                  <a:schemeClr val="accent1"/>
                </a:solidFill>
              </a:rPr>
              <a:t>CONTEXTE ET OBJECTIFS DU PROJET</a:t>
            </a:r>
          </a:p>
        </p:txBody>
      </p:sp>
      <p:sp>
        <p:nvSpPr>
          <p:cNvPr id="10" name="Rectangle 9">
            <a:extLst>
              <a:ext uri="{FF2B5EF4-FFF2-40B4-BE49-F238E27FC236}">
                <a16:creationId xmlns:a16="http://schemas.microsoft.com/office/drawing/2014/main" id="{19334917-3673-4EF2-BA7C-CC83AEEEA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673" y="457200"/>
            <a:ext cx="420624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12" name="Rectangle 11">
            <a:extLst>
              <a:ext uri="{FF2B5EF4-FFF2-40B4-BE49-F238E27FC236}">
                <a16:creationId xmlns:a16="http://schemas.microsoft.com/office/drawing/2014/main" id="{E1589AE1-C0FC-4B66-9C0D-9EB92F40F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585" y="457200"/>
            <a:ext cx="65836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dirty="0"/>
          </a:p>
        </p:txBody>
      </p:sp>
      <p:sp>
        <p:nvSpPr>
          <p:cNvPr id="3" name="Espace réservé du contenu 2">
            <a:extLst>
              <a:ext uri="{FF2B5EF4-FFF2-40B4-BE49-F238E27FC236}">
                <a16:creationId xmlns:a16="http://schemas.microsoft.com/office/drawing/2014/main" id="{D3C7E2F6-198D-3A73-7572-4A4C13B48D2D}"/>
              </a:ext>
            </a:extLst>
          </p:cNvPr>
          <p:cNvSpPr>
            <a:spLocks noGrp="1"/>
          </p:cNvSpPr>
          <p:nvPr>
            <p:ph idx="1"/>
          </p:nvPr>
        </p:nvSpPr>
        <p:spPr>
          <a:xfrm>
            <a:off x="5117586" y="1124998"/>
            <a:ext cx="6143248" cy="4608003"/>
          </a:xfrm>
        </p:spPr>
        <p:txBody>
          <a:bodyPr>
            <a:normAutofit/>
          </a:bodyPr>
          <a:lstStyle/>
          <a:p>
            <a:r>
              <a:rPr lang="fr-FR" sz="2000" b="1" dirty="0"/>
              <a:t>Contexte</a:t>
            </a:r>
            <a:r>
              <a:rPr lang="fr-FR" sz="2000" dirty="0"/>
              <a:t> : La compagnie aérienne </a:t>
            </a:r>
            <a:r>
              <a:rPr lang="fr-FR" sz="2000" i="1" dirty="0"/>
              <a:t>Air Paradis</a:t>
            </a:r>
            <a:r>
              <a:rPr lang="fr-FR" sz="2000" dirty="0"/>
              <a:t> souhaite améliorer sa réputation en ligne en anticipant les </a:t>
            </a:r>
            <a:r>
              <a:rPr lang="fr-FR" sz="2000" dirty="0" err="1"/>
              <a:t>bad</a:t>
            </a:r>
            <a:r>
              <a:rPr lang="fr-FR" sz="2000" dirty="0"/>
              <a:t> buzz issus des réseaux sociaux.</a:t>
            </a:r>
          </a:p>
          <a:p>
            <a:pPr marL="0" indent="0">
              <a:buNone/>
            </a:pPr>
            <a:endParaRPr lang="fr-FR" sz="2000" dirty="0"/>
          </a:p>
          <a:p>
            <a:r>
              <a:rPr lang="fr-FR" sz="2000" b="1" dirty="0"/>
              <a:t>Objectif</a:t>
            </a:r>
            <a:r>
              <a:rPr lang="fr-FR" sz="2000" dirty="0"/>
              <a:t> : Développer un outil capable d’analyser le ton des messages publiés en ligne pour aider l’entreprise à réagir plus rapidement aux critiques.</a:t>
            </a:r>
          </a:p>
        </p:txBody>
      </p:sp>
    </p:spTree>
    <p:extLst>
      <p:ext uri="{BB962C8B-B14F-4D97-AF65-F5344CB8AC3E}">
        <p14:creationId xmlns:p14="http://schemas.microsoft.com/office/powerpoint/2010/main" val="255287273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5351FE3-C556-98D8-5166-BE6F7548C8B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A9ACCC6-9BDF-BA26-3F60-09716B85DC92}"/>
              </a:ext>
            </a:extLst>
          </p:cNvPr>
          <p:cNvSpPr>
            <a:spLocks noGrp="1"/>
          </p:cNvSpPr>
          <p:nvPr>
            <p:ph type="title"/>
          </p:nvPr>
        </p:nvSpPr>
        <p:spPr>
          <a:xfrm>
            <a:off x="4373646" y="210693"/>
            <a:ext cx="3990808" cy="778698"/>
          </a:xfrm>
        </p:spPr>
        <p:txBody>
          <a:bodyPr anchor="ctr">
            <a:normAutofit/>
          </a:bodyPr>
          <a:lstStyle/>
          <a:p>
            <a:r>
              <a:rPr lang="fr-FR" sz="4000" dirty="0">
                <a:solidFill>
                  <a:srgbClr val="FFFF00"/>
                </a:solidFill>
              </a:rPr>
              <a:t>MISE EN PLACE</a:t>
            </a:r>
          </a:p>
        </p:txBody>
      </p:sp>
      <p:sp>
        <p:nvSpPr>
          <p:cNvPr id="4" name="Titre 1">
            <a:extLst>
              <a:ext uri="{FF2B5EF4-FFF2-40B4-BE49-F238E27FC236}">
                <a16:creationId xmlns:a16="http://schemas.microsoft.com/office/drawing/2014/main" id="{9EEDAE20-C7D6-0C41-928C-50DFDA18135D}"/>
              </a:ext>
            </a:extLst>
          </p:cNvPr>
          <p:cNvSpPr txBox="1">
            <a:spLocks/>
          </p:cNvSpPr>
          <p:nvPr/>
        </p:nvSpPr>
        <p:spPr>
          <a:xfrm>
            <a:off x="330534" y="331248"/>
            <a:ext cx="466558" cy="1148301"/>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chemeClr val="accent1"/>
                </a:solidFill>
              </a:rPr>
              <a:t>1</a:t>
            </a:r>
          </a:p>
        </p:txBody>
      </p:sp>
      <p:sp>
        <p:nvSpPr>
          <p:cNvPr id="12" name="ZoneTexte 11">
            <a:extLst>
              <a:ext uri="{FF2B5EF4-FFF2-40B4-BE49-F238E27FC236}">
                <a16:creationId xmlns:a16="http://schemas.microsoft.com/office/drawing/2014/main" id="{6C54AF76-7CCC-4D94-C065-A906FB1E7E2E}"/>
              </a:ext>
            </a:extLst>
          </p:cNvPr>
          <p:cNvSpPr txBox="1"/>
          <p:nvPr/>
        </p:nvSpPr>
        <p:spPr>
          <a:xfrm>
            <a:off x="2218100" y="5255051"/>
            <a:ext cx="7755800" cy="83099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Le jeu de données, équilibré entre tweets positifs et négatifs, présente une structure simple et propre, sans valeurs manquantes. Sa taille modérée et son format textuel homogène en font une base idéale pour expérimenter différentes approches de modélisation du sentiment.</a:t>
            </a:r>
          </a:p>
        </p:txBody>
      </p:sp>
      <p:pic>
        <p:nvPicPr>
          <p:cNvPr id="6" name="Image 5" descr="Une image contenant texte, capture d’écran, Police&#10;&#10;Le contenu généré par l’IA peut être incorrect.">
            <a:extLst>
              <a:ext uri="{FF2B5EF4-FFF2-40B4-BE49-F238E27FC236}">
                <a16:creationId xmlns:a16="http://schemas.microsoft.com/office/drawing/2014/main" id="{2C94800B-06C0-5D43-38EC-1D250A123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49" y="1393776"/>
            <a:ext cx="5739465" cy="2958931"/>
          </a:xfrm>
          <a:prstGeom prst="rect">
            <a:avLst/>
          </a:prstGeom>
          <a:ln>
            <a:noFill/>
          </a:ln>
          <a:effectLst>
            <a:outerShdw blurRad="190500" algn="tl" rotWithShape="0">
              <a:srgbClr val="000000">
                <a:alpha val="70000"/>
              </a:srgbClr>
            </a:outerShdw>
          </a:effectLst>
        </p:spPr>
      </p:pic>
      <p:pic>
        <p:nvPicPr>
          <p:cNvPr id="8" name="Image 7" descr="Une image contenant texte, capture d’écran, Police&#10;&#10;Le contenu généré par l’IA peut être incorrect.">
            <a:extLst>
              <a:ext uri="{FF2B5EF4-FFF2-40B4-BE49-F238E27FC236}">
                <a16:creationId xmlns:a16="http://schemas.microsoft.com/office/drawing/2014/main" id="{44C54F29-56E0-69E8-6A20-732953D742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5280" y="1187450"/>
            <a:ext cx="5739464" cy="337158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17741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23FF5EE-ED93-DAA8-1772-14307B67055E}"/>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67393143-0792-80CD-362A-CA6788A5A70C}"/>
              </a:ext>
            </a:extLst>
          </p:cNvPr>
          <p:cNvSpPr txBox="1"/>
          <p:nvPr/>
        </p:nvSpPr>
        <p:spPr>
          <a:xfrm>
            <a:off x="330534" y="5185476"/>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tweets sont répartis de manière équilibrée entre sentiments positifs et négatifs, garantissant un apprentissage sans biais de classe lors de l’entraînement du modèle.</a:t>
            </a:r>
          </a:p>
        </p:txBody>
      </p:sp>
      <p:sp>
        <p:nvSpPr>
          <p:cNvPr id="3" name="Titre 1">
            <a:extLst>
              <a:ext uri="{FF2B5EF4-FFF2-40B4-BE49-F238E27FC236}">
                <a16:creationId xmlns:a16="http://schemas.microsoft.com/office/drawing/2014/main" id="{117D4476-DE70-A323-DB94-A58FA73A8D2D}"/>
              </a:ext>
            </a:extLst>
          </p:cNvPr>
          <p:cNvSpPr txBox="1">
            <a:spLocks/>
          </p:cNvSpPr>
          <p:nvPr/>
        </p:nvSpPr>
        <p:spPr>
          <a:xfrm>
            <a:off x="4621296" y="-140709"/>
            <a:ext cx="3990808" cy="778698"/>
          </a:xfrm>
          <a:prstGeom prst="rect">
            <a:avLst/>
          </a:prstGeom>
        </p:spPr>
        <p:txBody>
          <a:bodyPr vert="horz" lIns="91440" tIns="45720" rIns="91440" bIns="45720" rtlCol="0" anchor="ctr">
            <a:normAutofit fontScale="97500"/>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sz="4000" dirty="0">
                <a:solidFill>
                  <a:srgbClr val="FFFF00"/>
                </a:solidFill>
              </a:rPr>
              <a:t>MISE EN PLACE</a:t>
            </a:r>
          </a:p>
        </p:txBody>
      </p:sp>
      <p:pic>
        <p:nvPicPr>
          <p:cNvPr id="4" name="Image 3" descr="Une image contenant texte, capture d’écran, Rectangle&#10;&#10;Le contenu généré par l’IA peut être incorrect.">
            <a:extLst>
              <a:ext uri="{FF2B5EF4-FFF2-40B4-BE49-F238E27FC236}">
                <a16:creationId xmlns:a16="http://schemas.microsoft.com/office/drawing/2014/main" id="{E75FE749-202E-E722-401A-BC3077228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797" y="1206499"/>
            <a:ext cx="3782259" cy="3097471"/>
          </a:xfrm>
          <a:prstGeom prst="rect">
            <a:avLst/>
          </a:prstGeom>
          <a:ln>
            <a:noFill/>
          </a:ln>
          <a:effectLst>
            <a:outerShdw blurRad="190500" algn="tl" rotWithShape="0">
              <a:srgbClr val="000000">
                <a:alpha val="70000"/>
              </a:srgbClr>
            </a:outerShdw>
          </a:effectLst>
        </p:spPr>
      </p:pic>
      <p:pic>
        <p:nvPicPr>
          <p:cNvPr id="6" name="Image 5" descr="Une image contenant texte, capture d’écran, diagramme, Tracé&#10;&#10;Le contenu généré par l’IA peut être incorrect.">
            <a:extLst>
              <a:ext uri="{FF2B5EF4-FFF2-40B4-BE49-F238E27FC236}">
                <a16:creationId xmlns:a16="http://schemas.microsoft.com/office/drawing/2014/main" id="{8EECDFAB-160B-5799-45FE-13FB5673A9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900" y="1296286"/>
            <a:ext cx="4958234" cy="2685419"/>
          </a:xfrm>
          <a:prstGeom prst="rect">
            <a:avLst/>
          </a:prstGeom>
          <a:ln>
            <a:noFill/>
          </a:ln>
          <a:effectLst>
            <a:outerShdw blurRad="190500" algn="tl" rotWithShape="0">
              <a:srgbClr val="000000">
                <a:alpha val="70000"/>
              </a:srgbClr>
            </a:outerShdw>
          </a:effectLst>
        </p:spPr>
      </p:pic>
      <p:sp>
        <p:nvSpPr>
          <p:cNvPr id="7" name="ZoneTexte 6">
            <a:extLst>
              <a:ext uri="{FF2B5EF4-FFF2-40B4-BE49-F238E27FC236}">
                <a16:creationId xmlns:a16="http://schemas.microsoft.com/office/drawing/2014/main" id="{0944C11C-A6EC-8822-56D3-A77D0C6E1950}"/>
              </a:ext>
            </a:extLst>
          </p:cNvPr>
          <p:cNvSpPr txBox="1"/>
          <p:nvPr/>
        </p:nvSpPr>
        <p:spPr>
          <a:xfrm>
            <a:off x="6688555" y="5185476"/>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La majorité des tweets comportent entre 40 et 120 caractères, ce qui correspond à des messages courts et concis typiques de la plateforme, adaptés à une analyse textuelle rapide.</a:t>
            </a:r>
          </a:p>
        </p:txBody>
      </p:sp>
    </p:spTree>
    <p:extLst>
      <p:ext uri="{BB962C8B-B14F-4D97-AF65-F5344CB8AC3E}">
        <p14:creationId xmlns:p14="http://schemas.microsoft.com/office/powerpoint/2010/main" val="41205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F125C13A-951A-23CD-AFB0-D886033B14E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0E50E78-C6DF-62F6-2A83-331541517C8B}"/>
              </a:ext>
            </a:extLst>
          </p:cNvPr>
          <p:cNvSpPr>
            <a:spLocks noGrp="1"/>
          </p:cNvSpPr>
          <p:nvPr>
            <p:ph type="title"/>
          </p:nvPr>
        </p:nvSpPr>
        <p:spPr>
          <a:xfrm>
            <a:off x="4146021" y="210693"/>
            <a:ext cx="4333708" cy="778698"/>
          </a:xfrm>
        </p:spPr>
        <p:txBody>
          <a:bodyPr anchor="ctr">
            <a:normAutofit/>
          </a:bodyPr>
          <a:lstStyle/>
          <a:p>
            <a:r>
              <a:rPr lang="fr-FR" sz="4000" dirty="0">
                <a:solidFill>
                  <a:srgbClr val="FFFF00"/>
                </a:solidFill>
              </a:rPr>
              <a:t>Jeu de données</a:t>
            </a:r>
          </a:p>
        </p:txBody>
      </p:sp>
      <p:pic>
        <p:nvPicPr>
          <p:cNvPr id="6" name="Image 5" descr="Une image contenant texte, capture d’écran, Police&#10;&#10;Le contenu généré par l’IA peut être incorrect.">
            <a:extLst>
              <a:ext uri="{FF2B5EF4-FFF2-40B4-BE49-F238E27FC236}">
                <a16:creationId xmlns:a16="http://schemas.microsoft.com/office/drawing/2014/main" id="{E04D725B-BC6F-A5BF-B790-E77A7F1A9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350" y="1111976"/>
            <a:ext cx="7777368" cy="43546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ZoneTexte 9">
            <a:extLst>
              <a:ext uri="{FF2B5EF4-FFF2-40B4-BE49-F238E27FC236}">
                <a16:creationId xmlns:a16="http://schemas.microsoft.com/office/drawing/2014/main" id="{611D2E93-07CF-CFAC-6EB0-042C3949DF6D}"/>
              </a:ext>
            </a:extLst>
          </p:cNvPr>
          <p:cNvSpPr txBox="1"/>
          <p:nvPr/>
        </p:nvSpPr>
        <p:spPr>
          <a:xfrm>
            <a:off x="82115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 jeu de données a été découpé en trois sous-ensembles selon une répartition 70 % / 15 % / 15 %, afin d’assurer un entraînement, une validation et un test représentatifs et équilibrés.</a:t>
            </a:r>
          </a:p>
        </p:txBody>
      </p:sp>
      <p:sp>
        <p:nvSpPr>
          <p:cNvPr id="12" name="ZoneTexte 11">
            <a:extLst>
              <a:ext uri="{FF2B5EF4-FFF2-40B4-BE49-F238E27FC236}">
                <a16:creationId xmlns:a16="http://schemas.microsoft.com/office/drawing/2014/main" id="{8F92B662-4F18-0431-E2E9-9D41B0759748}"/>
              </a:ext>
            </a:extLst>
          </p:cNvPr>
          <p:cNvSpPr txBox="1"/>
          <p:nvPr/>
        </p:nvSpPr>
        <p:spPr>
          <a:xfrm>
            <a:off x="631287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Cette séparation contrôlée par un </a:t>
            </a:r>
            <a:r>
              <a:rPr lang="fr-FR" sz="1400" i="1" dirty="0" err="1"/>
              <a:t>random</a:t>
            </a:r>
            <a:r>
              <a:rPr lang="fr-FR" sz="1400" i="1" dirty="0"/>
              <a:t> state</a:t>
            </a:r>
            <a:r>
              <a:rPr lang="fr-FR" sz="1400" dirty="0"/>
              <a:t> fixe garantit la reproductibilité des résultats et une évaluation fiable des performances du modèle.</a:t>
            </a:r>
          </a:p>
        </p:txBody>
      </p:sp>
    </p:spTree>
    <p:extLst>
      <p:ext uri="{BB962C8B-B14F-4D97-AF65-F5344CB8AC3E}">
        <p14:creationId xmlns:p14="http://schemas.microsoft.com/office/powerpoint/2010/main" val="2873122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23DD21C-3F96-3B6C-E660-9B0855EE6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96630A-7EBF-70AA-3025-5B32CFC2C124}"/>
              </a:ext>
            </a:extLst>
          </p:cNvPr>
          <p:cNvSpPr>
            <a:spLocks noGrp="1"/>
          </p:cNvSpPr>
          <p:nvPr>
            <p:ph type="title"/>
          </p:nvPr>
        </p:nvSpPr>
        <p:spPr>
          <a:xfrm>
            <a:off x="4329480" y="6145"/>
            <a:ext cx="3939439" cy="778698"/>
          </a:xfrm>
        </p:spPr>
        <p:txBody>
          <a:bodyPr anchor="ctr">
            <a:normAutofit/>
          </a:bodyPr>
          <a:lstStyle/>
          <a:p>
            <a:r>
              <a:rPr lang="fr-FR" sz="4000" dirty="0" err="1">
                <a:solidFill>
                  <a:srgbClr val="FFFF00"/>
                </a:solidFill>
              </a:rPr>
              <a:t>github</a:t>
            </a:r>
            <a:r>
              <a:rPr lang="fr-FR" sz="4000" dirty="0">
                <a:solidFill>
                  <a:srgbClr val="FFFF00"/>
                </a:solidFill>
              </a:rPr>
              <a:t> action </a:t>
            </a:r>
          </a:p>
        </p:txBody>
      </p:sp>
      <p:pic>
        <p:nvPicPr>
          <p:cNvPr id="5" name="Image 4" descr="Une image contenant texte, capture d’écran, Police&#10;&#10;Le contenu généré par l’IA peut être incorrect.">
            <a:extLst>
              <a:ext uri="{FF2B5EF4-FFF2-40B4-BE49-F238E27FC236}">
                <a16:creationId xmlns:a16="http://schemas.microsoft.com/office/drawing/2014/main" id="{350A15E4-EC6E-C9BF-4436-352E26C51F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1934" y="914125"/>
            <a:ext cx="9148131" cy="4191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ZoneTexte 5">
            <a:extLst>
              <a:ext uri="{FF2B5EF4-FFF2-40B4-BE49-F238E27FC236}">
                <a16:creationId xmlns:a16="http://schemas.microsoft.com/office/drawing/2014/main" id="{8ABA4B5B-0343-FB43-3C33-7C63C74CBFB4}"/>
              </a:ext>
            </a:extLst>
          </p:cNvPr>
          <p:cNvSpPr txBox="1"/>
          <p:nvPr/>
        </p:nvSpPr>
        <p:spPr>
          <a:xfrm>
            <a:off x="82115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 pipeline CI/CD automatise l’intégralité du cycle de livraison : installation des dépendances, exécution des tests unitaires et déploiement sur </a:t>
            </a:r>
            <a:r>
              <a:rPr lang="fr-FR" sz="1400" dirty="0" err="1"/>
              <a:t>Heroku</a:t>
            </a:r>
            <a:r>
              <a:rPr lang="fr-FR" sz="1400" dirty="0"/>
              <a:t>.</a:t>
            </a:r>
          </a:p>
        </p:txBody>
      </p:sp>
      <p:sp>
        <p:nvSpPr>
          <p:cNvPr id="7" name="ZoneTexte 6">
            <a:extLst>
              <a:ext uri="{FF2B5EF4-FFF2-40B4-BE49-F238E27FC236}">
                <a16:creationId xmlns:a16="http://schemas.microsoft.com/office/drawing/2014/main" id="{34FFBAEE-560C-199C-0470-0AA82EEEE1ED}"/>
              </a:ext>
            </a:extLst>
          </p:cNvPr>
          <p:cNvSpPr txBox="1"/>
          <p:nvPr/>
        </p:nvSpPr>
        <p:spPr>
          <a:xfrm>
            <a:off x="6521395" y="5753405"/>
            <a:ext cx="4849450" cy="73866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En s’appuyant sur </a:t>
            </a:r>
            <a:r>
              <a:rPr lang="fr-FR" sz="1400" b="1" dirty="0"/>
              <a:t>GitHub Actions</a:t>
            </a:r>
            <a:r>
              <a:rPr lang="fr-FR" sz="1400" dirty="0"/>
              <a:t> et un déclenchement conditionnel sur la branche </a:t>
            </a:r>
            <a:r>
              <a:rPr lang="fr-FR" sz="1400" i="1" dirty="0"/>
              <a:t>main</a:t>
            </a:r>
            <a:r>
              <a:rPr lang="fr-FR" sz="1400" dirty="0"/>
              <a:t>, il garantit un déploiement fiable, et conforme aux bonnes pratiques de </a:t>
            </a:r>
            <a:r>
              <a:rPr lang="fr-FR" sz="1400" dirty="0" err="1"/>
              <a:t>MLOps</a:t>
            </a:r>
            <a:r>
              <a:rPr lang="fr-FR" sz="1400" dirty="0"/>
              <a:t>.</a:t>
            </a:r>
          </a:p>
        </p:txBody>
      </p:sp>
    </p:spTree>
    <p:extLst>
      <p:ext uri="{BB962C8B-B14F-4D97-AF65-F5344CB8AC3E}">
        <p14:creationId xmlns:p14="http://schemas.microsoft.com/office/powerpoint/2010/main" val="41455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E6F68D-97F8-9A7B-1F8E-DB1704C2B40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891B7-A344-6223-3F7A-629E24D6D9DA}"/>
              </a:ext>
            </a:extLst>
          </p:cNvPr>
          <p:cNvSpPr>
            <a:spLocks noGrp="1"/>
          </p:cNvSpPr>
          <p:nvPr>
            <p:ph type="title"/>
          </p:nvPr>
        </p:nvSpPr>
        <p:spPr>
          <a:xfrm>
            <a:off x="3934921" y="488642"/>
            <a:ext cx="4322158" cy="778698"/>
          </a:xfrm>
        </p:spPr>
        <p:txBody>
          <a:bodyPr anchor="ctr">
            <a:normAutofit fontScale="90000"/>
          </a:bodyPr>
          <a:lstStyle/>
          <a:p>
            <a:r>
              <a:rPr lang="fr-FR" sz="4000" dirty="0">
                <a:solidFill>
                  <a:srgbClr val="FFFF00"/>
                </a:solidFill>
              </a:rPr>
              <a:t>Bilan mise en place</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D991E9D5-67F1-447C-F809-22828D14D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4737" y="1680976"/>
            <a:ext cx="9342526" cy="450146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07648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14FF1033-945F-EC6F-AC83-3C6121522F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95C92E8-01A7-AB60-AD5D-49BE8EB005A7}"/>
              </a:ext>
            </a:extLst>
          </p:cNvPr>
          <p:cNvSpPr>
            <a:spLocks noGrp="1"/>
          </p:cNvSpPr>
          <p:nvPr>
            <p:ph type="title"/>
          </p:nvPr>
        </p:nvSpPr>
        <p:spPr>
          <a:xfrm>
            <a:off x="4125703" y="-178656"/>
            <a:ext cx="5046058" cy="778698"/>
          </a:xfrm>
        </p:spPr>
        <p:txBody>
          <a:bodyPr anchor="ctr">
            <a:normAutofit/>
          </a:bodyPr>
          <a:lstStyle/>
          <a:p>
            <a:r>
              <a:rPr lang="fr-FR" sz="4000" dirty="0">
                <a:solidFill>
                  <a:srgbClr val="FFFF00"/>
                </a:solidFill>
              </a:rPr>
              <a:t>Modèles de test</a:t>
            </a:r>
          </a:p>
        </p:txBody>
      </p:sp>
      <p:pic>
        <p:nvPicPr>
          <p:cNvPr id="10" name="Image 9" descr="Une image contenant texte, capture d’écran, Police&#10;&#10;Le contenu généré par l’IA peut être incorrect.">
            <a:extLst>
              <a:ext uri="{FF2B5EF4-FFF2-40B4-BE49-F238E27FC236}">
                <a16:creationId xmlns:a16="http://schemas.microsoft.com/office/drawing/2014/main" id="{CAEF527C-6049-1002-7C9B-0356AC9714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13" y="886384"/>
            <a:ext cx="11195713" cy="550705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72263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0DF5FE4-265C-C364-38D3-29B2F5F4B8E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848E85A-8F05-E110-AE29-F0E75130B828}"/>
              </a:ext>
            </a:extLst>
          </p:cNvPr>
          <p:cNvSpPr>
            <a:spLocks noGrp="1"/>
          </p:cNvSpPr>
          <p:nvPr>
            <p:ph type="title"/>
          </p:nvPr>
        </p:nvSpPr>
        <p:spPr>
          <a:xfrm>
            <a:off x="4233024" y="-178656"/>
            <a:ext cx="4188618" cy="778698"/>
          </a:xfrm>
        </p:spPr>
        <p:txBody>
          <a:bodyPr anchor="ctr">
            <a:normAutofit/>
          </a:bodyPr>
          <a:lstStyle/>
          <a:p>
            <a:r>
              <a:rPr lang="fr-FR" sz="4000" dirty="0">
                <a:solidFill>
                  <a:srgbClr val="FFFF00"/>
                </a:solidFill>
              </a:rPr>
              <a:t>Modèles de test</a:t>
            </a:r>
          </a:p>
        </p:txBody>
      </p:sp>
      <p:sp>
        <p:nvSpPr>
          <p:cNvPr id="8" name="ZoneTexte 7">
            <a:extLst>
              <a:ext uri="{FF2B5EF4-FFF2-40B4-BE49-F238E27FC236}">
                <a16:creationId xmlns:a16="http://schemas.microsoft.com/office/drawing/2014/main" id="{A04E93F0-0F03-7684-2545-6C59B16CBEBA}"/>
              </a:ext>
            </a:extLst>
          </p:cNvPr>
          <p:cNvSpPr txBox="1"/>
          <p:nvPr/>
        </p:nvSpPr>
        <p:spPr>
          <a:xfrm>
            <a:off x="2331830" y="5347077"/>
            <a:ext cx="7755800" cy="1323439"/>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600" dirty="0"/>
              <a:t>Tous les modèles ont été entraînés sur des données normalisées via </a:t>
            </a:r>
            <a:r>
              <a:rPr lang="fr-FR" sz="1600" b="1" dirty="0" err="1"/>
              <a:t>spaCy</a:t>
            </a:r>
            <a:r>
              <a:rPr lang="fr-FR" sz="1600" dirty="0"/>
              <a:t>, incluant une tokenisation fine, la lemmatisation et un filtrage lexical homogène afin d’assurer la cohérence du pipeline de prétraitement. Les résultats mettent en évidence </a:t>
            </a:r>
            <a:r>
              <a:rPr lang="fr-FR" sz="1600" b="1" dirty="0" err="1"/>
              <a:t>DistilBERT</a:t>
            </a:r>
            <a:r>
              <a:rPr lang="fr-FR" sz="1600" b="1" dirty="0"/>
              <a:t> + MLP</a:t>
            </a:r>
            <a:r>
              <a:rPr lang="fr-FR" sz="1600" dirty="0"/>
              <a:t> pour sa capacité contextuelle, </a:t>
            </a:r>
            <a:r>
              <a:rPr lang="fr-FR" sz="1600" b="1" dirty="0"/>
              <a:t>TF-IDF + </a:t>
            </a:r>
            <a:r>
              <a:rPr lang="fr-FR" sz="1600" b="1" dirty="0" err="1"/>
              <a:t>LogReg</a:t>
            </a:r>
            <a:r>
              <a:rPr lang="fr-FR" sz="1600" dirty="0"/>
              <a:t> pour son efficacité computationnelle, et </a:t>
            </a:r>
            <a:r>
              <a:rPr lang="fr-FR" sz="1600" b="1" dirty="0" err="1"/>
              <a:t>FastText</a:t>
            </a:r>
            <a:r>
              <a:rPr lang="fr-FR" sz="1600" dirty="0"/>
              <a:t> pour sa robustesse face à la variabilité lexicale des tweets.</a:t>
            </a:r>
          </a:p>
        </p:txBody>
      </p:sp>
      <p:pic>
        <p:nvPicPr>
          <p:cNvPr id="10" name="Image 9" descr="Une image contenant texte, capture d’écran&#10;&#10;Le contenu généré par l’IA peut être incorrect.">
            <a:extLst>
              <a:ext uri="{FF2B5EF4-FFF2-40B4-BE49-F238E27FC236}">
                <a16:creationId xmlns:a16="http://schemas.microsoft.com/office/drawing/2014/main" id="{DAD5C990-5E13-4407-21A0-AC5F4DCA66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9645" y="689198"/>
            <a:ext cx="9860170" cy="44419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84292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7C1B7FD-80B0-2981-C07D-E40974AB117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E2D5C24-F067-9066-D1F6-946D5F4D65A2}"/>
              </a:ext>
            </a:extLst>
          </p:cNvPr>
          <p:cNvSpPr>
            <a:spLocks noGrp="1"/>
          </p:cNvSpPr>
          <p:nvPr>
            <p:ph type="title"/>
          </p:nvPr>
        </p:nvSpPr>
        <p:spPr>
          <a:xfrm>
            <a:off x="4001691" y="287498"/>
            <a:ext cx="4188618" cy="778698"/>
          </a:xfrm>
        </p:spPr>
        <p:txBody>
          <a:bodyPr anchor="ctr">
            <a:normAutofit/>
          </a:bodyPr>
          <a:lstStyle/>
          <a:p>
            <a:r>
              <a:rPr lang="fr-FR" sz="4000" dirty="0">
                <a:solidFill>
                  <a:srgbClr val="FFFF00"/>
                </a:solidFill>
              </a:rPr>
              <a:t>Modèles de test</a:t>
            </a:r>
          </a:p>
        </p:txBody>
      </p:sp>
      <p:pic>
        <p:nvPicPr>
          <p:cNvPr id="4" name="Image 3" descr="Une image contenant texte, capture d’écran, menu&#10;&#10;Le contenu généré par l’IA peut être incorrect.">
            <a:extLst>
              <a:ext uri="{FF2B5EF4-FFF2-40B4-BE49-F238E27FC236}">
                <a16:creationId xmlns:a16="http://schemas.microsoft.com/office/drawing/2014/main" id="{B0D5BB0F-E669-7735-8070-B88D2B6E0F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682" y="1143000"/>
            <a:ext cx="11464636" cy="5381758"/>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527083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955E0EC2-3AD5-1566-58BA-4C45F486D1A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FED1F4-FFA8-6C58-F781-1DFDAE5BD449}"/>
              </a:ext>
            </a:extLst>
          </p:cNvPr>
          <p:cNvSpPr>
            <a:spLocks noGrp="1"/>
          </p:cNvSpPr>
          <p:nvPr>
            <p:ph type="title"/>
          </p:nvPr>
        </p:nvSpPr>
        <p:spPr>
          <a:xfrm>
            <a:off x="3701388" y="-178656"/>
            <a:ext cx="5054684" cy="778698"/>
          </a:xfrm>
        </p:spPr>
        <p:txBody>
          <a:bodyPr anchor="ctr">
            <a:normAutofit fontScale="90000"/>
          </a:bodyPr>
          <a:lstStyle/>
          <a:p>
            <a:r>
              <a:rPr lang="fr-FR" sz="4000" dirty="0" err="1">
                <a:solidFill>
                  <a:srgbClr val="FFFF00"/>
                </a:solidFill>
              </a:rPr>
              <a:t>Modeles</a:t>
            </a:r>
            <a:r>
              <a:rPr lang="fr-FR" sz="4000" dirty="0">
                <a:solidFill>
                  <a:srgbClr val="FFFF00"/>
                </a:solidFill>
              </a:rPr>
              <a:t> final MLFLOW</a:t>
            </a:r>
          </a:p>
        </p:txBody>
      </p:sp>
      <p:sp>
        <p:nvSpPr>
          <p:cNvPr id="6" name="ZoneTexte 5">
            <a:extLst>
              <a:ext uri="{FF2B5EF4-FFF2-40B4-BE49-F238E27FC236}">
                <a16:creationId xmlns:a16="http://schemas.microsoft.com/office/drawing/2014/main" id="{9EC954A5-4D3B-C950-0E3D-86703CF9E902}"/>
              </a:ext>
            </a:extLst>
          </p:cNvPr>
          <p:cNvSpPr txBox="1"/>
          <p:nvPr/>
        </p:nvSpPr>
        <p:spPr>
          <a:xfrm>
            <a:off x="563813" y="5261451"/>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Les résultats suivis dans </a:t>
            </a:r>
            <a:r>
              <a:rPr lang="fr-FR" sz="1400" b="1" dirty="0" err="1"/>
              <a:t>MLflow</a:t>
            </a:r>
            <a:r>
              <a:rPr lang="fr-FR" sz="1400" dirty="0"/>
              <a:t> montrent une cohérence globale entre les modèles, avec des F1-scores proches, majoritairement compris entre 0.71 et 0.73, témoignant d’une bonne stabilité et d’une capacité d’apprentissage homogène.</a:t>
            </a:r>
          </a:p>
        </p:txBody>
      </p:sp>
      <p:pic>
        <p:nvPicPr>
          <p:cNvPr id="8" name="Image 7" descr="Une image contenant texte, capture d’écran, Police&#10;&#10;Le contenu généré par l’IA peut être incorrect.">
            <a:extLst>
              <a:ext uri="{FF2B5EF4-FFF2-40B4-BE49-F238E27FC236}">
                <a16:creationId xmlns:a16="http://schemas.microsoft.com/office/drawing/2014/main" id="{C5B5B6DB-86C1-1745-27D7-4985B2175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70" y="690097"/>
            <a:ext cx="9975850" cy="4164185"/>
          </a:xfrm>
          <a:prstGeom prst="rect">
            <a:avLst/>
          </a:prstGeom>
          <a:ln>
            <a:noFill/>
          </a:ln>
          <a:effectLst>
            <a:outerShdw blurRad="190500" algn="tl" rotWithShape="0">
              <a:srgbClr val="000000">
                <a:alpha val="70000"/>
              </a:srgbClr>
            </a:outerShdw>
          </a:effectLst>
        </p:spPr>
      </p:pic>
      <p:sp>
        <p:nvSpPr>
          <p:cNvPr id="9" name="ZoneTexte 8">
            <a:extLst>
              <a:ext uri="{FF2B5EF4-FFF2-40B4-BE49-F238E27FC236}">
                <a16:creationId xmlns:a16="http://schemas.microsoft.com/office/drawing/2014/main" id="{E0742610-188F-9FBB-C15B-A38EE15B1161}"/>
              </a:ext>
            </a:extLst>
          </p:cNvPr>
          <p:cNvSpPr txBox="1"/>
          <p:nvPr/>
        </p:nvSpPr>
        <p:spPr>
          <a:xfrm>
            <a:off x="6578995" y="5261450"/>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On observe néanmoins une </a:t>
            </a:r>
            <a:r>
              <a:rPr lang="fr-FR" sz="1400" b="1" dirty="0"/>
              <a:t>anomalie sur le modèle </a:t>
            </a:r>
            <a:r>
              <a:rPr lang="fr-FR" sz="1400" b="1" dirty="0" err="1"/>
              <a:t>FastText</a:t>
            </a:r>
            <a:r>
              <a:rPr lang="fr-FR" sz="1400" dirty="0"/>
              <a:t>, qui affiche le meilleur score sans validation croisée ni traçabilité complète, ce qui renforce la fiabilité des modèles </a:t>
            </a:r>
            <a:r>
              <a:rPr lang="fr-FR" sz="1400" b="1" dirty="0"/>
              <a:t>TF-IDF + </a:t>
            </a:r>
            <a:r>
              <a:rPr lang="fr-FR" sz="1400" b="1" dirty="0" err="1"/>
              <a:t>LogReg</a:t>
            </a:r>
            <a:r>
              <a:rPr lang="fr-FR" sz="1400" dirty="0"/>
              <a:t> et </a:t>
            </a:r>
            <a:r>
              <a:rPr lang="fr-FR" sz="1400" b="1" dirty="0" err="1"/>
              <a:t>DistilBERT</a:t>
            </a:r>
            <a:r>
              <a:rPr lang="fr-FR" sz="1400" b="1" dirty="0"/>
              <a:t> + MLP</a:t>
            </a:r>
            <a:r>
              <a:rPr lang="fr-FR" sz="1400" dirty="0"/>
              <a:t> comme références pour la suite.</a:t>
            </a:r>
          </a:p>
        </p:txBody>
      </p:sp>
    </p:spTree>
    <p:extLst>
      <p:ext uri="{BB962C8B-B14F-4D97-AF65-F5344CB8AC3E}">
        <p14:creationId xmlns:p14="http://schemas.microsoft.com/office/powerpoint/2010/main" val="357138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F7168C2-0582-9FDF-2185-53C838AC74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9F87C9-6B80-D153-4760-FD42C7708F2B}"/>
              </a:ext>
            </a:extLst>
          </p:cNvPr>
          <p:cNvSpPr>
            <a:spLocks noGrp="1"/>
          </p:cNvSpPr>
          <p:nvPr>
            <p:ph type="title"/>
          </p:nvPr>
        </p:nvSpPr>
        <p:spPr>
          <a:xfrm>
            <a:off x="4331910" y="-136255"/>
            <a:ext cx="3528178" cy="778698"/>
          </a:xfrm>
        </p:spPr>
        <p:txBody>
          <a:bodyPr anchor="ctr">
            <a:normAutofit/>
          </a:bodyPr>
          <a:lstStyle/>
          <a:p>
            <a:r>
              <a:rPr lang="fr-FR" sz="4000" dirty="0" err="1">
                <a:solidFill>
                  <a:srgbClr val="FFFF00"/>
                </a:solidFill>
              </a:rPr>
              <a:t>Modeles</a:t>
            </a:r>
            <a:r>
              <a:rPr lang="fr-FR" sz="4000" dirty="0">
                <a:solidFill>
                  <a:srgbClr val="FFFF00"/>
                </a:solidFill>
              </a:rPr>
              <a:t> final</a:t>
            </a:r>
          </a:p>
        </p:txBody>
      </p:sp>
      <p:sp>
        <p:nvSpPr>
          <p:cNvPr id="6" name="ZoneTexte 5">
            <a:extLst>
              <a:ext uri="{FF2B5EF4-FFF2-40B4-BE49-F238E27FC236}">
                <a16:creationId xmlns:a16="http://schemas.microsoft.com/office/drawing/2014/main" id="{29C576A4-B7D6-0AAB-AE19-899C985417C6}"/>
              </a:ext>
            </a:extLst>
          </p:cNvPr>
          <p:cNvSpPr txBox="1"/>
          <p:nvPr/>
        </p:nvSpPr>
        <p:spPr>
          <a:xfrm>
            <a:off x="563813" y="5464706"/>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Malgré de meilleures performances brutes, </a:t>
            </a:r>
            <a:r>
              <a:rPr lang="fr-FR" sz="1400" b="1" dirty="0" err="1"/>
              <a:t>DistilBERT</a:t>
            </a:r>
            <a:r>
              <a:rPr lang="fr-FR" sz="1400" b="1" dirty="0"/>
              <a:t> + MLP</a:t>
            </a:r>
            <a:r>
              <a:rPr lang="fr-FR" sz="1400" dirty="0"/>
              <a:t> présente un </a:t>
            </a:r>
            <a:r>
              <a:rPr lang="fr-FR" sz="1400" b="1" dirty="0"/>
              <a:t>surapprentissage marqué (Δ≈0.26)</a:t>
            </a:r>
            <a:r>
              <a:rPr lang="fr-FR" sz="1400" dirty="0"/>
              <a:t>, une </a:t>
            </a:r>
            <a:r>
              <a:rPr lang="fr-FR" sz="1400" b="1" dirty="0"/>
              <a:t>latence d’inférence élevée</a:t>
            </a:r>
            <a:r>
              <a:rPr lang="fr-FR" sz="1400" dirty="0"/>
              <a:t> et une </a:t>
            </a:r>
            <a:r>
              <a:rPr lang="fr-FR" sz="1400" b="1" dirty="0"/>
              <a:t>dépendance à un environnement GPU</a:t>
            </a:r>
            <a:r>
              <a:rPr lang="fr-FR" sz="1400" dirty="0"/>
              <a:t>, rendant son intégration plus complexe et coûteuse.</a:t>
            </a:r>
          </a:p>
        </p:txBody>
      </p:sp>
      <p:sp>
        <p:nvSpPr>
          <p:cNvPr id="9" name="ZoneTexte 8">
            <a:extLst>
              <a:ext uri="{FF2B5EF4-FFF2-40B4-BE49-F238E27FC236}">
                <a16:creationId xmlns:a16="http://schemas.microsoft.com/office/drawing/2014/main" id="{C77E3F66-A2A5-E470-DCF7-BCF899188A34}"/>
              </a:ext>
            </a:extLst>
          </p:cNvPr>
          <p:cNvSpPr txBox="1"/>
          <p:nvPr/>
        </p:nvSpPr>
        <p:spPr>
          <a:xfrm>
            <a:off x="6578995" y="5464705"/>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À l’inverse, </a:t>
            </a:r>
            <a:r>
              <a:rPr lang="fr-FR" sz="1400" b="1" dirty="0"/>
              <a:t>TF-IDF + </a:t>
            </a:r>
            <a:r>
              <a:rPr lang="fr-FR" sz="1400" b="1" dirty="0" err="1"/>
              <a:t>LogReg</a:t>
            </a:r>
            <a:r>
              <a:rPr lang="fr-FR" sz="1400" dirty="0"/>
              <a:t> affiche une </a:t>
            </a:r>
            <a:r>
              <a:rPr lang="fr-FR" sz="1400" b="1" dirty="0"/>
              <a:t>stabilité éprouvée en cross-validation</a:t>
            </a:r>
            <a:r>
              <a:rPr lang="fr-FR" sz="1400" dirty="0"/>
              <a:t>, une </a:t>
            </a:r>
            <a:r>
              <a:rPr lang="fr-FR" sz="1400" b="1" dirty="0"/>
              <a:t>excellente généralisation</a:t>
            </a:r>
            <a:r>
              <a:rPr lang="fr-FR" sz="1400" dirty="0"/>
              <a:t> et une </a:t>
            </a:r>
            <a:r>
              <a:rPr lang="fr-FR" sz="1400" b="1" dirty="0"/>
              <a:t>empreinte opérationnelle minimale</a:t>
            </a:r>
            <a:r>
              <a:rPr lang="fr-FR" sz="1400" dirty="0"/>
              <a:t>, ce qui en fait une solution </a:t>
            </a:r>
            <a:r>
              <a:rPr lang="fr-FR" sz="1400" b="1" dirty="0"/>
              <a:t>plus robuste et industrialisable</a:t>
            </a:r>
            <a:r>
              <a:rPr lang="fr-FR" sz="1400" dirty="0"/>
              <a:t> pour un déploiement en production.</a:t>
            </a:r>
          </a:p>
        </p:txBody>
      </p:sp>
      <p:pic>
        <p:nvPicPr>
          <p:cNvPr id="4" name="Image 3" descr="Une image contenant texte, capture d’écran, Police&#10;&#10;Le contenu généré par l’IA peut être incorrect.">
            <a:extLst>
              <a:ext uri="{FF2B5EF4-FFF2-40B4-BE49-F238E27FC236}">
                <a16:creationId xmlns:a16="http://schemas.microsoft.com/office/drawing/2014/main" id="{52BBC423-4501-E444-8BF8-6A9329DF92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3780" y="642443"/>
            <a:ext cx="8684439" cy="448229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05624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8F327552-424A-EBB6-B952-678BCA2C48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0D1E8A-B6BD-5FAC-D291-A46265C22320}"/>
              </a:ext>
            </a:extLst>
          </p:cNvPr>
          <p:cNvSpPr>
            <a:spLocks noGrp="1"/>
          </p:cNvSpPr>
          <p:nvPr>
            <p:ph type="title"/>
          </p:nvPr>
        </p:nvSpPr>
        <p:spPr>
          <a:xfrm>
            <a:off x="3422038" y="-205952"/>
            <a:ext cx="5347920" cy="778698"/>
          </a:xfrm>
        </p:spPr>
        <p:txBody>
          <a:bodyPr anchor="ctr">
            <a:normAutofit/>
          </a:bodyPr>
          <a:lstStyle/>
          <a:p>
            <a:r>
              <a:rPr lang="fr-FR" sz="4000" dirty="0">
                <a:solidFill>
                  <a:schemeClr val="accent3"/>
                </a:solidFill>
              </a:rPr>
              <a:t>INTEGRATION HEROKU</a:t>
            </a:r>
          </a:p>
        </p:txBody>
      </p:sp>
      <p:pic>
        <p:nvPicPr>
          <p:cNvPr id="5" name="Image 4" descr="Une image contenant texte, capture d’écran, menu, Police&#10;&#10;Le contenu généré par l’IA peut être incorrect.">
            <a:extLst>
              <a:ext uri="{FF2B5EF4-FFF2-40B4-BE49-F238E27FC236}">
                <a16:creationId xmlns:a16="http://schemas.microsoft.com/office/drawing/2014/main" id="{1E0A14C0-819F-81BF-DF5D-8E7EF559DF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308" y="572746"/>
            <a:ext cx="8867384" cy="4757120"/>
          </a:xfrm>
          <a:prstGeom prst="rect">
            <a:avLst/>
          </a:prstGeom>
        </p:spPr>
      </p:pic>
      <p:sp>
        <p:nvSpPr>
          <p:cNvPr id="7" name="ZoneTexte 6">
            <a:extLst>
              <a:ext uri="{FF2B5EF4-FFF2-40B4-BE49-F238E27FC236}">
                <a16:creationId xmlns:a16="http://schemas.microsoft.com/office/drawing/2014/main" id="{47D58623-3690-AA18-A88C-5CCE50B315DD}"/>
              </a:ext>
            </a:extLst>
          </p:cNvPr>
          <p:cNvSpPr txBox="1"/>
          <p:nvPr/>
        </p:nvSpPr>
        <p:spPr>
          <a:xfrm>
            <a:off x="549959" y="5631510"/>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Ce code illustre une </a:t>
            </a:r>
            <a:r>
              <a:rPr lang="fr-FR" sz="1400" b="1" dirty="0"/>
              <a:t>intégration complète entre modèle, interface et monitoring</a:t>
            </a:r>
            <a:r>
              <a:rPr lang="fr-FR" sz="1400" dirty="0"/>
              <a:t>, où chaque composant de </a:t>
            </a:r>
            <a:r>
              <a:rPr lang="fr-FR" sz="1400" dirty="0" err="1"/>
              <a:t>Streamlit</a:t>
            </a:r>
            <a:r>
              <a:rPr lang="fr-FR" sz="1400" dirty="0"/>
              <a:t> à Azure Insights contribue à une boucle de prédiction et de supervision cohérente.</a:t>
            </a:r>
          </a:p>
        </p:txBody>
      </p:sp>
      <p:sp>
        <p:nvSpPr>
          <p:cNvPr id="10" name="ZoneTexte 9">
            <a:extLst>
              <a:ext uri="{FF2B5EF4-FFF2-40B4-BE49-F238E27FC236}">
                <a16:creationId xmlns:a16="http://schemas.microsoft.com/office/drawing/2014/main" id="{1D4C085E-AE0B-6468-1A15-F6DC6CDA7AAF}"/>
              </a:ext>
            </a:extLst>
          </p:cNvPr>
          <p:cNvSpPr txBox="1"/>
          <p:nvPr/>
        </p:nvSpPr>
        <p:spPr>
          <a:xfrm>
            <a:off x="6792593" y="5631509"/>
            <a:ext cx="4849450" cy="954107"/>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fr-FR" sz="1400" dirty="0"/>
              <a:t>Déployée sur </a:t>
            </a:r>
            <a:r>
              <a:rPr lang="fr-FR" sz="1400" b="1" dirty="0" err="1"/>
              <a:t>Heroku</a:t>
            </a:r>
            <a:r>
              <a:rPr lang="fr-FR" sz="1400" dirty="0"/>
              <a:t> via le pipeline CI/CD, l’application combine </a:t>
            </a:r>
            <a:r>
              <a:rPr lang="fr-FR" sz="1400" b="1" dirty="0"/>
              <a:t>simplicité d’exécution, traçabilité des performances</a:t>
            </a:r>
            <a:r>
              <a:rPr lang="fr-FR" sz="1400" dirty="0"/>
              <a:t> et </a:t>
            </a:r>
            <a:r>
              <a:rPr lang="fr-FR" sz="1400" b="1" dirty="0"/>
              <a:t>collecte de feedbacks utilisateurs</a:t>
            </a:r>
            <a:r>
              <a:rPr lang="fr-FR" sz="1400" dirty="0"/>
              <a:t> pour préparer une itération continue du modèle.</a:t>
            </a:r>
          </a:p>
        </p:txBody>
      </p:sp>
    </p:spTree>
    <p:extLst>
      <p:ext uri="{BB962C8B-B14F-4D97-AF65-F5344CB8AC3E}">
        <p14:creationId xmlns:p14="http://schemas.microsoft.com/office/powerpoint/2010/main" val="1620772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726356F5-4BDD-3B48-6575-4A1B5EB6FF3E}"/>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912C43B0-C671-6AF9-C2AA-E925BF516034}"/>
              </a:ext>
            </a:extLst>
          </p:cNvPr>
          <p:cNvSpPr>
            <a:spLocks noGrp="1"/>
          </p:cNvSpPr>
          <p:nvPr>
            <p:ph type="title"/>
          </p:nvPr>
        </p:nvSpPr>
        <p:spPr>
          <a:xfrm>
            <a:off x="3422038" y="-205952"/>
            <a:ext cx="5347920" cy="778698"/>
          </a:xfrm>
        </p:spPr>
        <p:txBody>
          <a:bodyPr anchor="ctr">
            <a:normAutofit/>
          </a:bodyPr>
          <a:lstStyle/>
          <a:p>
            <a:r>
              <a:rPr lang="fr-FR" sz="4000" dirty="0">
                <a:solidFill>
                  <a:schemeClr val="accent3"/>
                </a:solidFill>
              </a:rPr>
              <a:t>INTEGRATION HEROKU</a:t>
            </a:r>
          </a:p>
        </p:txBody>
      </p:sp>
      <p:pic>
        <p:nvPicPr>
          <p:cNvPr id="8" name="Image 7" descr="Une image contenant texte, capture d’écran, Police, conception&#10;&#10;Le contenu généré par l’IA peut être incorrect.">
            <a:extLst>
              <a:ext uri="{FF2B5EF4-FFF2-40B4-BE49-F238E27FC236}">
                <a16:creationId xmlns:a16="http://schemas.microsoft.com/office/drawing/2014/main" id="{773E171F-48CF-D76F-27C3-28D30600B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7779" y="1582950"/>
            <a:ext cx="8896437" cy="50488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itre 1">
            <a:extLst>
              <a:ext uri="{FF2B5EF4-FFF2-40B4-BE49-F238E27FC236}">
                <a16:creationId xmlns:a16="http://schemas.microsoft.com/office/drawing/2014/main" id="{1691B101-22A2-37EC-D5B9-3A6C9908E22E}"/>
              </a:ext>
            </a:extLst>
          </p:cNvPr>
          <p:cNvSpPr txBox="1">
            <a:spLocks/>
          </p:cNvSpPr>
          <p:nvPr/>
        </p:nvSpPr>
        <p:spPr>
          <a:xfrm>
            <a:off x="4173299" y="865920"/>
            <a:ext cx="3845395" cy="778698"/>
          </a:xfrm>
          <a:prstGeom prst="rect">
            <a:avLst/>
          </a:prstGeom>
        </p:spPr>
        <p:txBody>
          <a:bodyPr vert="horz" lIns="91440" tIns="45720" rIns="91440" bIns="45720" rtlCol="0" anchor="ctr">
            <a:normAutofit/>
          </a:bodyPr>
          <a:lstStyle>
            <a:lvl1pPr algn="l" defTabSz="457200" rtl="0" eaLnBrk="1" latinLnBrk="0" hangingPunct="1">
              <a:lnSpc>
                <a:spcPct val="100000"/>
              </a:lnSpc>
              <a:spcBef>
                <a:spcPct val="0"/>
              </a:spcBef>
              <a:buNone/>
              <a:defRPr sz="32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solidFill>
                  <a:schemeClr val="accent5"/>
                </a:solidFill>
              </a:rPr>
              <a:t>DEMO ET PREDICTION</a:t>
            </a:r>
          </a:p>
        </p:txBody>
      </p:sp>
    </p:spTree>
    <p:extLst>
      <p:ext uri="{BB962C8B-B14F-4D97-AF65-F5344CB8AC3E}">
        <p14:creationId xmlns:p14="http://schemas.microsoft.com/office/powerpoint/2010/main" val="40806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2A7CEF74-E9AC-DA64-C62F-14D83DE903A5}"/>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B2A3AB45-C503-D435-5659-22E8162C40C6}"/>
              </a:ext>
            </a:extLst>
          </p:cNvPr>
          <p:cNvSpPr>
            <a:spLocks noGrp="1"/>
          </p:cNvSpPr>
          <p:nvPr>
            <p:ph type="title"/>
          </p:nvPr>
        </p:nvSpPr>
        <p:spPr>
          <a:xfrm>
            <a:off x="4418325" y="-163147"/>
            <a:ext cx="3538320" cy="778698"/>
          </a:xfrm>
        </p:spPr>
        <p:txBody>
          <a:bodyPr anchor="ctr">
            <a:normAutofit/>
          </a:bodyPr>
          <a:lstStyle/>
          <a:p>
            <a:r>
              <a:rPr lang="fr-FR" sz="4000" dirty="0">
                <a:solidFill>
                  <a:schemeClr val="accent3"/>
                </a:solidFill>
              </a:rPr>
              <a:t>AZURE INSIGHT </a:t>
            </a:r>
          </a:p>
        </p:txBody>
      </p:sp>
      <p:pic>
        <p:nvPicPr>
          <p:cNvPr id="3" name="Image 2">
            <a:extLst>
              <a:ext uri="{FF2B5EF4-FFF2-40B4-BE49-F238E27FC236}">
                <a16:creationId xmlns:a16="http://schemas.microsoft.com/office/drawing/2014/main" id="{2679BA3F-0638-57A8-637F-3C8175CC9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829" y="759755"/>
            <a:ext cx="10952068" cy="17271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 4">
            <a:extLst>
              <a:ext uri="{FF2B5EF4-FFF2-40B4-BE49-F238E27FC236}">
                <a16:creationId xmlns:a16="http://schemas.microsoft.com/office/drawing/2014/main" id="{04C42E80-C876-70C0-94CE-A8E1A68542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216" y="3032638"/>
            <a:ext cx="7430537" cy="298174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40352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32E18E2-6FBE-D260-C209-84E5A9C6B914}"/>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06CF8FE-7BBF-A908-D181-49C8750B8442}"/>
              </a:ext>
            </a:extLst>
          </p:cNvPr>
          <p:cNvSpPr>
            <a:spLocks noGrp="1"/>
          </p:cNvSpPr>
          <p:nvPr>
            <p:ph type="title"/>
          </p:nvPr>
        </p:nvSpPr>
        <p:spPr>
          <a:xfrm>
            <a:off x="4598434" y="-175342"/>
            <a:ext cx="3538320" cy="778698"/>
          </a:xfrm>
        </p:spPr>
        <p:txBody>
          <a:bodyPr anchor="ctr">
            <a:normAutofit/>
          </a:bodyPr>
          <a:lstStyle/>
          <a:p>
            <a:r>
              <a:rPr lang="fr-FR" sz="4000" dirty="0">
                <a:solidFill>
                  <a:schemeClr val="accent3"/>
                </a:solidFill>
              </a:rPr>
              <a:t>CONCLUSION</a:t>
            </a:r>
          </a:p>
        </p:txBody>
      </p:sp>
      <p:pic>
        <p:nvPicPr>
          <p:cNvPr id="4" name="Image 3">
            <a:extLst>
              <a:ext uri="{FF2B5EF4-FFF2-40B4-BE49-F238E27FC236}">
                <a16:creationId xmlns:a16="http://schemas.microsoft.com/office/drawing/2014/main" id="{6A5BCC1D-85EB-0E4D-050E-63DB13785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3656" y="869938"/>
            <a:ext cx="8864688" cy="560737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84045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68715D-A2B5-DCF4-CF6C-A9FB950062D9}"/>
            </a:ext>
          </a:extLst>
        </p:cNvPr>
        <p:cNvGrpSpPr/>
        <p:nvPr/>
      </p:nvGrpSpPr>
      <p:grpSpPr>
        <a:xfrm>
          <a:off x="0" y="0"/>
          <a:ext cx="0" cy="0"/>
          <a:chOff x="0" y="0"/>
          <a:chExt cx="0" cy="0"/>
        </a:xfrm>
      </p:grpSpPr>
      <p:pic>
        <p:nvPicPr>
          <p:cNvPr id="16" name="Picture 3" descr="Une image contenant rideau, capture d’écran, art, léger&#10;&#10;Description générée automatiquement">
            <a:extLst>
              <a:ext uri="{FF2B5EF4-FFF2-40B4-BE49-F238E27FC236}">
                <a16:creationId xmlns:a16="http://schemas.microsoft.com/office/drawing/2014/main" id="{E032A3CE-58AD-B19A-7A0B-E8E4C69AE7F0}"/>
              </a:ext>
            </a:extLst>
          </p:cNvPr>
          <p:cNvPicPr>
            <a:picLocks noChangeAspect="1"/>
          </p:cNvPicPr>
          <p:nvPr/>
        </p:nvPicPr>
        <p:blipFill>
          <a:blip r:embed="rId2"/>
          <a:srcRect b="19929"/>
          <a:stretch/>
        </p:blipFill>
        <p:spPr>
          <a:xfrm>
            <a:off x="-3047" y="10"/>
            <a:ext cx="12191999" cy="6857990"/>
          </a:xfrm>
          <a:prstGeom prst="rect">
            <a:avLst/>
          </a:prstGeom>
        </p:spPr>
      </p:pic>
      <p:sp>
        <p:nvSpPr>
          <p:cNvPr id="36" name="Rectangle 3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chemeClr val="tx2">
                  <a:alpha val="0"/>
                </a:schemeClr>
              </a:gs>
              <a:gs pos="50000">
                <a:schemeClr val="tx2">
                  <a:alpha val="35000"/>
                </a:schemeClr>
              </a:gs>
              <a:gs pos="100000">
                <a:schemeClr val="tx2">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
            <a:extLst>
              <a:ext uri="{FF2B5EF4-FFF2-40B4-BE49-F238E27FC236}">
                <a16:creationId xmlns:a16="http://schemas.microsoft.com/office/drawing/2014/main" id="{854E41FE-6390-1D23-C23A-BDB443340F02}"/>
              </a:ext>
            </a:extLst>
          </p:cNvPr>
          <p:cNvSpPr>
            <a:spLocks noGrp="1"/>
          </p:cNvSpPr>
          <p:nvPr>
            <p:ph type="ctrTitle"/>
          </p:nvPr>
        </p:nvSpPr>
        <p:spPr>
          <a:xfrm>
            <a:off x="643466" y="643467"/>
            <a:ext cx="10905059" cy="3330353"/>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chemeClr val="bg1"/>
                </a:solidFill>
              </a:rPr>
              <a:t>Merci de </a:t>
            </a:r>
            <a:r>
              <a:rPr lang="en-US" dirty="0" err="1">
                <a:solidFill>
                  <a:schemeClr val="bg1"/>
                </a:solidFill>
              </a:rPr>
              <a:t>votre</a:t>
            </a:r>
            <a:r>
              <a:rPr lang="en-US" dirty="0">
                <a:solidFill>
                  <a:schemeClr val="bg1"/>
                </a:solidFill>
              </a:rPr>
              <a:t> </a:t>
            </a:r>
            <a:r>
              <a:rPr lang="en-US" dirty="0" err="1">
                <a:solidFill>
                  <a:schemeClr val="bg1"/>
                </a:solidFill>
              </a:rPr>
              <a:t>ecoute</a:t>
            </a:r>
            <a:endParaRPr lang="en-US" dirty="0">
              <a:solidFill>
                <a:schemeClr val="bg1"/>
              </a:solidFill>
            </a:endParaRPr>
          </a:p>
          <a:p>
            <a:pPr algn="ctr"/>
            <a:br>
              <a:rPr lang="en-US" dirty="0">
                <a:solidFill>
                  <a:schemeClr val="bg1"/>
                </a:solidFill>
              </a:rPr>
            </a:br>
            <a:endParaRPr lang="en-US" dirty="0">
              <a:solidFill>
                <a:schemeClr val="bg1"/>
              </a:solidFill>
            </a:endParaRPr>
          </a:p>
        </p:txBody>
      </p:sp>
      <p:sp>
        <p:nvSpPr>
          <p:cNvPr id="3" name="Sous-titre 2">
            <a:extLst>
              <a:ext uri="{FF2B5EF4-FFF2-40B4-BE49-F238E27FC236}">
                <a16:creationId xmlns:a16="http://schemas.microsoft.com/office/drawing/2014/main" id="{8294FA5C-C2C6-18D9-1036-09AC0B46704B}"/>
              </a:ext>
            </a:extLst>
          </p:cNvPr>
          <p:cNvSpPr>
            <a:spLocks noGrp="1"/>
          </p:cNvSpPr>
          <p:nvPr>
            <p:ph type="subTitle" idx="1"/>
          </p:nvPr>
        </p:nvSpPr>
        <p:spPr>
          <a:xfrm>
            <a:off x="643466" y="4133135"/>
            <a:ext cx="10902016" cy="1454510"/>
          </a:xfrm>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sz="1800" b="1" dirty="0" err="1">
                <a:solidFill>
                  <a:schemeClr val="bg1"/>
                </a:solidFill>
                <a:effectLst/>
              </a:rPr>
              <a:t>Projet</a:t>
            </a:r>
            <a:r>
              <a:rPr lang="en-US" sz="1800" b="1" dirty="0">
                <a:solidFill>
                  <a:schemeClr val="bg1"/>
                </a:solidFill>
                <a:effectLst/>
              </a:rPr>
              <a:t> </a:t>
            </a:r>
            <a:r>
              <a:rPr lang="en-US" sz="1800" b="1" dirty="0">
                <a:solidFill>
                  <a:schemeClr val="bg1"/>
                </a:solidFill>
              </a:rPr>
              <a:t>7</a:t>
            </a:r>
            <a:br>
              <a:rPr lang="en-US" sz="1800" b="1" i="0" dirty="0">
                <a:solidFill>
                  <a:schemeClr val="bg1"/>
                </a:solidFill>
                <a:effectLst/>
              </a:rPr>
            </a:br>
            <a:endParaRPr lang="en-US" sz="1800" b="1" dirty="0">
              <a:solidFill>
                <a:schemeClr val="bg1"/>
              </a:solidFill>
            </a:endParaRPr>
          </a:p>
        </p:txBody>
      </p:sp>
      <p:cxnSp>
        <p:nvCxnSpPr>
          <p:cNvPr id="38" name="Straight Connector 37">
            <a:extLst>
              <a:ext uri="{FF2B5EF4-FFF2-40B4-BE49-F238E27FC236}">
                <a16:creationId xmlns:a16="http://schemas.microsoft.com/office/drawing/2014/main" id="{34E5597F-CE67-4085-9548-E6A8036DA3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393881" y="4035362"/>
            <a:ext cx="5404237" cy="0"/>
          </a:xfrm>
          <a:prstGeom prst="line">
            <a:avLst/>
          </a:prstGeom>
          <a:ln>
            <a:solidFill>
              <a:schemeClr val="bg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525015"/>
      </p:ext>
    </p:extLst>
  </p:cSld>
  <p:clrMapOvr>
    <a:masterClrMapping/>
  </p:clrMapOvr>
</p:sld>
</file>

<file path=ppt/theme/theme1.xml><?xml version="1.0" encoding="utf-8"?>
<a:theme xmlns:a="http://schemas.openxmlformats.org/drawingml/2006/main" name="DividendVTI">
  <a:themeElements>
    <a:clrScheme name="AnalogousFromDarkSeedLeftStep">
      <a:dk1>
        <a:srgbClr val="000000"/>
      </a:dk1>
      <a:lt1>
        <a:srgbClr val="FFFFFF"/>
      </a:lt1>
      <a:dk2>
        <a:srgbClr val="1B302B"/>
      </a:dk2>
      <a:lt2>
        <a:srgbClr val="F3F3F0"/>
      </a:lt2>
      <a:accent1>
        <a:srgbClr val="4843D6"/>
      </a:accent1>
      <a:accent2>
        <a:srgbClr val="2A64C2"/>
      </a:accent2>
      <a:accent3>
        <a:srgbClr val="3CB5D4"/>
      </a:accent3>
      <a:accent4>
        <a:srgbClr val="2AC2A2"/>
      </a:accent4>
      <a:accent5>
        <a:srgbClr val="37C56B"/>
      </a:accent5>
      <a:accent6>
        <a:srgbClr val="31C22A"/>
      </a:accent6>
      <a:hlink>
        <a:srgbClr val="349E6D"/>
      </a:hlink>
      <a:folHlink>
        <a:srgbClr val="7F7F7F"/>
      </a:folHlink>
    </a:clrScheme>
    <a:fontScheme name="Dividend">
      <a:maj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14405</TotalTime>
  <Words>616</Words>
  <Application>Microsoft Office PowerPoint</Application>
  <PresentationFormat>Grand écran</PresentationFormat>
  <Paragraphs>43</Paragraphs>
  <Slides>17</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17</vt:i4>
      </vt:variant>
    </vt:vector>
  </HeadingPairs>
  <TitlesOfParts>
    <vt:vector size="23" baseType="lpstr">
      <vt:lpstr>Aptos</vt:lpstr>
      <vt:lpstr>Gill Sans MT</vt:lpstr>
      <vt:lpstr>Inter</vt:lpstr>
      <vt:lpstr>Tw Cen MT</vt:lpstr>
      <vt:lpstr>Wingdings 2</vt:lpstr>
      <vt:lpstr>DividendVTI</vt:lpstr>
      <vt:lpstr>Projet 7</vt:lpstr>
      <vt:lpstr>CONTEXTE ET OBJECTIFS DU PROJET</vt:lpstr>
      <vt:lpstr>MISE EN PLACE</vt:lpstr>
      <vt:lpstr>Présentation PowerPoint</vt:lpstr>
      <vt:lpstr>Jeu de données</vt:lpstr>
      <vt:lpstr>github action </vt:lpstr>
      <vt:lpstr>Bilan mise en place</vt:lpstr>
      <vt:lpstr>Modèles de test</vt:lpstr>
      <vt:lpstr>Modèles de test</vt:lpstr>
      <vt:lpstr>Modèles de test</vt:lpstr>
      <vt:lpstr>Modeles final MLFLOW</vt:lpstr>
      <vt:lpstr>Modeles final</vt:lpstr>
      <vt:lpstr>INTEGRATION HEROKU</vt:lpstr>
      <vt:lpstr>INTEGRATION HEROKU</vt:lpstr>
      <vt:lpstr>AZURE INSIGHT </vt:lpstr>
      <vt:lpstr>CONCLUSION</vt:lpstr>
      <vt:lpstr>Merci de votre ecoute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A</dc:creator>
  <cp:lastModifiedBy>Victor A</cp:lastModifiedBy>
  <cp:revision>185</cp:revision>
  <dcterms:created xsi:type="dcterms:W3CDTF">2024-10-31T01:53:11Z</dcterms:created>
  <dcterms:modified xsi:type="dcterms:W3CDTF">2025-11-12T11:29:42Z</dcterms:modified>
</cp:coreProperties>
</file>